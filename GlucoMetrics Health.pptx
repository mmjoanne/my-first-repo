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Nunito Heavy" charset="1" panose="00000000000000000000"/>
      <p:regular r:id="rId36"/>
    </p:embeddedFont>
    <p:embeddedFont>
      <p:font typeface="Nunito" charset="1" panose="00000500000000000000"/>
      <p:regular r:id="rId37"/>
    </p:embeddedFont>
    <p:embeddedFont>
      <p:font typeface="Nunito Bold" charset="1" panose="000008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 - All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Kem? Either works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Joanne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Joanne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Joanne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Kem</a:t>
            </a:r>
          </a:p>
          <a:p>
            <a:r>
              <a:rPr lang="en-US"/>
              <a:t/>
            </a:r>
          </a:p>
          <a:p>
            <a:r>
              <a:rPr lang="en-US"/>
              <a:t>https://www.ncbi.nlm.nih.gov/books/NBK233089/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Sreeya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Sreeya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Sreeya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Siri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Siri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Joanne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Kem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Sreeya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Joanne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Siri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Siri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Kem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5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6.sv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4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47.png" Type="http://schemas.openxmlformats.org/officeDocument/2006/relationships/image"/><Relationship Id="rId4" Target="../media/image4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0823544" y="-6277760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5253835" y="4177984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7"/>
                </a:lnTo>
                <a:lnTo>
                  <a:pt x="0" y="13573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8676" y="2891157"/>
            <a:ext cx="13545278" cy="381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b="true" sz="900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PIMA INDIANS DIABETES</a:t>
            </a:r>
          </a:p>
          <a:p>
            <a:pPr algn="ctr">
              <a:lnSpc>
                <a:spcPts val="99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200000">
            <a:off x="684629" y="5561221"/>
            <a:ext cx="3652098" cy="4228745"/>
          </a:xfrm>
          <a:custGeom>
            <a:avLst/>
            <a:gdLst/>
            <a:ahLst/>
            <a:cxnLst/>
            <a:rect r="r" b="b" t="t" l="l"/>
            <a:pathLst>
              <a:path h="4228745" w="3652098">
                <a:moveTo>
                  <a:pt x="0" y="0"/>
                </a:moveTo>
                <a:lnTo>
                  <a:pt x="3652098" y="0"/>
                </a:lnTo>
                <a:lnTo>
                  <a:pt x="3652098" y="4228746"/>
                </a:lnTo>
                <a:lnTo>
                  <a:pt x="0" y="42287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320000">
            <a:off x="489934" y="3704289"/>
            <a:ext cx="2008993" cy="1848274"/>
          </a:xfrm>
          <a:custGeom>
            <a:avLst/>
            <a:gdLst/>
            <a:ahLst/>
            <a:cxnLst/>
            <a:rect r="r" b="b" t="t" l="l"/>
            <a:pathLst>
              <a:path h="1848274" w="2008993">
                <a:moveTo>
                  <a:pt x="0" y="0"/>
                </a:moveTo>
                <a:lnTo>
                  <a:pt x="2008993" y="0"/>
                </a:lnTo>
                <a:lnTo>
                  <a:pt x="2008993" y="1848273"/>
                </a:lnTo>
                <a:lnTo>
                  <a:pt x="0" y="18482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9782">
            <a:off x="16311134" y="1106579"/>
            <a:ext cx="1247524" cy="2318035"/>
          </a:xfrm>
          <a:custGeom>
            <a:avLst/>
            <a:gdLst/>
            <a:ahLst/>
            <a:cxnLst/>
            <a:rect r="r" b="b" t="t" l="l"/>
            <a:pathLst>
              <a:path h="2318035" w="1247524">
                <a:moveTo>
                  <a:pt x="0" y="0"/>
                </a:moveTo>
                <a:lnTo>
                  <a:pt x="1247525" y="0"/>
                </a:lnTo>
                <a:lnTo>
                  <a:pt x="1247525" y="2318034"/>
                </a:lnTo>
                <a:lnTo>
                  <a:pt x="0" y="23180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257292">
            <a:off x="15801246" y="3579589"/>
            <a:ext cx="1407347" cy="2097672"/>
          </a:xfrm>
          <a:custGeom>
            <a:avLst/>
            <a:gdLst/>
            <a:ahLst/>
            <a:cxnLst/>
            <a:rect r="r" b="b" t="t" l="l"/>
            <a:pathLst>
              <a:path h="2097672" w="1407347">
                <a:moveTo>
                  <a:pt x="0" y="0"/>
                </a:moveTo>
                <a:lnTo>
                  <a:pt x="1407348" y="0"/>
                </a:lnTo>
                <a:lnTo>
                  <a:pt x="1407348" y="2097673"/>
                </a:lnTo>
                <a:lnTo>
                  <a:pt x="0" y="209767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453" y="498207"/>
            <a:ext cx="1091934" cy="2461327"/>
          </a:xfrm>
          <a:custGeom>
            <a:avLst/>
            <a:gdLst/>
            <a:ahLst/>
            <a:cxnLst/>
            <a:rect r="r" b="b" t="t" l="l"/>
            <a:pathLst>
              <a:path h="2461327" w="1091934">
                <a:moveTo>
                  <a:pt x="0" y="0"/>
                </a:moveTo>
                <a:lnTo>
                  <a:pt x="1091934" y="0"/>
                </a:lnTo>
                <a:lnTo>
                  <a:pt x="1091934" y="2461326"/>
                </a:lnTo>
                <a:lnTo>
                  <a:pt x="0" y="24613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800000">
            <a:off x="5327875" y="7745979"/>
            <a:ext cx="1245036" cy="1956486"/>
          </a:xfrm>
          <a:custGeom>
            <a:avLst/>
            <a:gdLst/>
            <a:ahLst/>
            <a:cxnLst/>
            <a:rect r="r" b="b" t="t" l="l"/>
            <a:pathLst>
              <a:path h="1956486" w="1245036">
                <a:moveTo>
                  <a:pt x="0" y="0"/>
                </a:moveTo>
                <a:lnTo>
                  <a:pt x="1245037" y="0"/>
                </a:lnTo>
                <a:lnTo>
                  <a:pt x="1245037" y="1956485"/>
                </a:lnTo>
                <a:lnTo>
                  <a:pt x="0" y="195648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300000">
            <a:off x="7311724" y="8510998"/>
            <a:ext cx="466624" cy="1807345"/>
          </a:xfrm>
          <a:custGeom>
            <a:avLst/>
            <a:gdLst/>
            <a:ahLst/>
            <a:cxnLst/>
            <a:rect r="r" b="b" t="t" l="l"/>
            <a:pathLst>
              <a:path h="1807345" w="466624">
                <a:moveTo>
                  <a:pt x="0" y="0"/>
                </a:moveTo>
                <a:lnTo>
                  <a:pt x="466623" y="0"/>
                </a:lnTo>
                <a:lnTo>
                  <a:pt x="466623" y="1807345"/>
                </a:lnTo>
                <a:lnTo>
                  <a:pt x="0" y="180734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593113">
            <a:off x="11535962" y="-110252"/>
            <a:ext cx="525989" cy="2277903"/>
          </a:xfrm>
          <a:custGeom>
            <a:avLst/>
            <a:gdLst/>
            <a:ahLst/>
            <a:cxnLst/>
            <a:rect r="r" b="b" t="t" l="l"/>
            <a:pathLst>
              <a:path h="2277903" w="525989">
                <a:moveTo>
                  <a:pt x="0" y="0"/>
                </a:moveTo>
                <a:lnTo>
                  <a:pt x="525989" y="0"/>
                </a:lnTo>
                <a:lnTo>
                  <a:pt x="525989" y="2277904"/>
                </a:lnTo>
                <a:lnTo>
                  <a:pt x="0" y="227790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89009" y="5518055"/>
            <a:ext cx="1016237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GlucoMetrics Health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9907623">
            <a:off x="14728830" y="601164"/>
            <a:ext cx="1371001" cy="2043497"/>
          </a:xfrm>
          <a:custGeom>
            <a:avLst/>
            <a:gdLst/>
            <a:ahLst/>
            <a:cxnLst/>
            <a:rect r="r" b="b" t="t" l="l"/>
            <a:pathLst>
              <a:path h="2043497" w="1371001">
                <a:moveTo>
                  <a:pt x="0" y="0"/>
                </a:moveTo>
                <a:lnTo>
                  <a:pt x="1371001" y="0"/>
                </a:lnTo>
                <a:lnTo>
                  <a:pt x="1371001" y="2043498"/>
                </a:lnTo>
                <a:lnTo>
                  <a:pt x="0" y="2043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90126" y="6422538"/>
            <a:ext cx="10162378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Siri Bandreddy, Kem Hosoya, Sreeya Kalari, 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Joanne Mittapalli, Mia Saavedra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79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62755"/>
            <a:ext cx="9285360" cy="10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b="true" sz="7000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02280"/>
            <a:ext cx="9285360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7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Company introduction</a:t>
            </a:r>
          </a:p>
          <a:p>
            <a:pPr algn="l" marL="906777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Public health challenge</a:t>
            </a:r>
          </a:p>
          <a:p>
            <a:pPr algn="l" marL="906777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Dataset Overview</a:t>
            </a:r>
          </a:p>
          <a:p>
            <a:pPr algn="l" marL="906777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Risk Factor Analysis &amp; Discussion</a:t>
            </a:r>
          </a:p>
          <a:p>
            <a:pPr algn="l" marL="906777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Recommendations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816066">
            <a:off x="7720133" y="-2011109"/>
            <a:ext cx="16888561" cy="14309217"/>
          </a:xfrm>
          <a:custGeom>
            <a:avLst/>
            <a:gdLst/>
            <a:ahLst/>
            <a:cxnLst/>
            <a:rect r="r" b="b" t="t" l="l"/>
            <a:pathLst>
              <a:path h="14309217" w="16888561">
                <a:moveTo>
                  <a:pt x="0" y="0"/>
                </a:moveTo>
                <a:lnTo>
                  <a:pt x="16888561" y="0"/>
                </a:lnTo>
                <a:lnTo>
                  <a:pt x="16888561" y="14309218"/>
                </a:lnTo>
                <a:lnTo>
                  <a:pt x="0" y="1430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4296">
            <a:off x="11006456" y="3811847"/>
            <a:ext cx="2143032" cy="1971589"/>
          </a:xfrm>
          <a:custGeom>
            <a:avLst/>
            <a:gdLst/>
            <a:ahLst/>
            <a:cxnLst/>
            <a:rect r="r" b="b" t="t" l="l"/>
            <a:pathLst>
              <a:path h="1971589" w="2143032">
                <a:moveTo>
                  <a:pt x="0" y="0"/>
                </a:moveTo>
                <a:lnTo>
                  <a:pt x="2143032" y="0"/>
                </a:lnTo>
                <a:lnTo>
                  <a:pt x="2143032" y="1971589"/>
                </a:lnTo>
                <a:lnTo>
                  <a:pt x="0" y="19715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10219">
            <a:off x="15723655" y="3406228"/>
            <a:ext cx="1460273" cy="2294715"/>
          </a:xfrm>
          <a:custGeom>
            <a:avLst/>
            <a:gdLst/>
            <a:ahLst/>
            <a:cxnLst/>
            <a:rect r="r" b="b" t="t" l="l"/>
            <a:pathLst>
              <a:path h="2294715" w="1460273">
                <a:moveTo>
                  <a:pt x="0" y="0"/>
                </a:moveTo>
                <a:lnTo>
                  <a:pt x="1460273" y="0"/>
                </a:lnTo>
                <a:lnTo>
                  <a:pt x="1460273" y="2294715"/>
                </a:lnTo>
                <a:lnTo>
                  <a:pt x="0" y="22947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881308">
            <a:off x="16205968" y="6115462"/>
            <a:ext cx="495646" cy="1919755"/>
          </a:xfrm>
          <a:custGeom>
            <a:avLst/>
            <a:gdLst/>
            <a:ahLst/>
            <a:cxnLst/>
            <a:rect r="r" b="b" t="t" l="l"/>
            <a:pathLst>
              <a:path h="1919755" w="495646">
                <a:moveTo>
                  <a:pt x="0" y="0"/>
                </a:moveTo>
                <a:lnTo>
                  <a:pt x="495646" y="0"/>
                </a:lnTo>
                <a:lnTo>
                  <a:pt x="495646" y="1919755"/>
                </a:lnTo>
                <a:lnTo>
                  <a:pt x="0" y="1919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9782">
            <a:off x="14045811" y="1708376"/>
            <a:ext cx="1362403" cy="2531492"/>
          </a:xfrm>
          <a:custGeom>
            <a:avLst/>
            <a:gdLst/>
            <a:ahLst/>
            <a:cxnLst/>
            <a:rect r="r" b="b" t="t" l="l"/>
            <a:pathLst>
              <a:path h="2531492" w="1362403">
                <a:moveTo>
                  <a:pt x="0" y="0"/>
                </a:moveTo>
                <a:lnTo>
                  <a:pt x="1362404" y="0"/>
                </a:lnTo>
                <a:lnTo>
                  <a:pt x="1362404" y="2531493"/>
                </a:lnTo>
                <a:lnTo>
                  <a:pt x="0" y="25314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932114">
            <a:off x="15718479" y="1159083"/>
            <a:ext cx="1470624" cy="2191987"/>
          </a:xfrm>
          <a:custGeom>
            <a:avLst/>
            <a:gdLst/>
            <a:ahLst/>
            <a:cxnLst/>
            <a:rect r="r" b="b" t="t" l="l"/>
            <a:pathLst>
              <a:path h="2191987" w="1470624">
                <a:moveTo>
                  <a:pt x="0" y="0"/>
                </a:moveTo>
                <a:lnTo>
                  <a:pt x="1470624" y="0"/>
                </a:lnTo>
                <a:lnTo>
                  <a:pt x="1470624" y="2191987"/>
                </a:lnTo>
                <a:lnTo>
                  <a:pt x="0" y="2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43487" y="819451"/>
            <a:ext cx="1180961" cy="2662002"/>
          </a:xfrm>
          <a:custGeom>
            <a:avLst/>
            <a:gdLst/>
            <a:ahLst/>
            <a:cxnLst/>
            <a:rect r="r" b="b" t="t" l="l"/>
            <a:pathLst>
              <a:path h="2662002" w="1180961">
                <a:moveTo>
                  <a:pt x="0" y="0"/>
                </a:moveTo>
                <a:lnTo>
                  <a:pt x="1180960" y="0"/>
                </a:lnTo>
                <a:lnTo>
                  <a:pt x="1180960" y="2662001"/>
                </a:lnTo>
                <a:lnTo>
                  <a:pt x="0" y="266200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492097">
            <a:off x="10273047" y="1011500"/>
            <a:ext cx="525989" cy="2277903"/>
          </a:xfrm>
          <a:custGeom>
            <a:avLst/>
            <a:gdLst/>
            <a:ahLst/>
            <a:cxnLst/>
            <a:rect r="r" b="b" t="t" l="l"/>
            <a:pathLst>
              <a:path h="2277903" w="525989">
                <a:moveTo>
                  <a:pt x="0" y="0"/>
                </a:moveTo>
                <a:lnTo>
                  <a:pt x="525988" y="0"/>
                </a:lnTo>
                <a:lnTo>
                  <a:pt x="525988" y="2277903"/>
                </a:lnTo>
                <a:lnTo>
                  <a:pt x="0" y="227790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7467239">
            <a:off x="13018389" y="1338935"/>
            <a:ext cx="1470624" cy="2191987"/>
          </a:xfrm>
          <a:custGeom>
            <a:avLst/>
            <a:gdLst/>
            <a:ahLst/>
            <a:cxnLst/>
            <a:rect r="r" b="b" t="t" l="l"/>
            <a:pathLst>
              <a:path h="2191987" w="1470624">
                <a:moveTo>
                  <a:pt x="0" y="0"/>
                </a:moveTo>
                <a:lnTo>
                  <a:pt x="1470624" y="0"/>
                </a:lnTo>
                <a:lnTo>
                  <a:pt x="1470624" y="2191987"/>
                </a:lnTo>
                <a:lnTo>
                  <a:pt x="0" y="2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6365">
            <a:off x="12141907" y="5261694"/>
            <a:ext cx="3497479" cy="4049712"/>
          </a:xfrm>
          <a:custGeom>
            <a:avLst/>
            <a:gdLst/>
            <a:ahLst/>
            <a:cxnLst/>
            <a:rect r="r" b="b" t="t" l="l"/>
            <a:pathLst>
              <a:path h="4049712" w="3497479">
                <a:moveTo>
                  <a:pt x="0" y="0"/>
                </a:moveTo>
                <a:lnTo>
                  <a:pt x="3497479" y="0"/>
                </a:lnTo>
                <a:lnTo>
                  <a:pt x="3497479" y="4049713"/>
                </a:lnTo>
                <a:lnTo>
                  <a:pt x="0" y="404971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79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5223" y="3126914"/>
            <a:ext cx="11877554" cy="10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b="true" sz="7000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ABOUT OUR TEAM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42607" y="4394524"/>
            <a:ext cx="14402787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Data Science Consulting Team at GlucoMetrics Health</a:t>
            </a:r>
          </a:p>
          <a:p>
            <a:pPr algn="ctr">
              <a:lnSpc>
                <a:spcPts val="5880"/>
              </a:lnSpc>
            </a:pP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Analyze diabetes risk factor data from a landmark epidemiological study of the Pima Indian population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6590698">
            <a:off x="-7476913" y="-9003195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590698">
            <a:off x="10415723" y="5513470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0" y="0"/>
                </a:moveTo>
                <a:lnTo>
                  <a:pt x="15744554" y="0"/>
                </a:lnTo>
                <a:lnTo>
                  <a:pt x="15744554" y="13339931"/>
                </a:lnTo>
                <a:lnTo>
                  <a:pt x="0" y="13339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590698">
            <a:off x="10697654" y="6164122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0" y="0"/>
                </a:moveTo>
                <a:lnTo>
                  <a:pt x="15744554" y="0"/>
                </a:lnTo>
                <a:lnTo>
                  <a:pt x="15744554" y="13339931"/>
                </a:lnTo>
                <a:lnTo>
                  <a:pt x="0" y="13339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6737149">
            <a:off x="-7687719" y="-9827318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1030" y="1000125"/>
            <a:ext cx="968594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 spc="6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TASK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98168"/>
            <a:ext cx="10949835" cy="125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3"/>
              </a:lnSpc>
            </a:pPr>
            <a:r>
              <a:rPr lang="en-US" sz="363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Client:</a:t>
            </a:r>
            <a:r>
              <a:rPr lang="en-US" sz="363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Public Health Department</a:t>
            </a:r>
          </a:p>
          <a:p>
            <a:pPr algn="just" marL="785556" indent="-39277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sz="363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Developing Diabetes Prevention Program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951625" y="3063693"/>
            <a:ext cx="1922234" cy="4332905"/>
          </a:xfrm>
          <a:custGeom>
            <a:avLst/>
            <a:gdLst/>
            <a:ahLst/>
            <a:cxnLst/>
            <a:rect r="r" b="b" t="t" l="l"/>
            <a:pathLst>
              <a:path h="4332905" w="1922234">
                <a:moveTo>
                  <a:pt x="0" y="0"/>
                </a:moveTo>
                <a:lnTo>
                  <a:pt x="1922234" y="0"/>
                </a:lnTo>
                <a:lnTo>
                  <a:pt x="1922234" y="4332905"/>
                </a:lnTo>
                <a:lnTo>
                  <a:pt x="0" y="433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48899">
            <a:off x="14111491" y="5740625"/>
            <a:ext cx="2380371" cy="3547979"/>
          </a:xfrm>
          <a:custGeom>
            <a:avLst/>
            <a:gdLst/>
            <a:ahLst/>
            <a:cxnLst/>
            <a:rect r="r" b="b" t="t" l="l"/>
            <a:pathLst>
              <a:path h="3547979" w="2380371">
                <a:moveTo>
                  <a:pt x="0" y="0"/>
                </a:moveTo>
                <a:lnTo>
                  <a:pt x="2380371" y="0"/>
                </a:lnTo>
                <a:lnTo>
                  <a:pt x="2380371" y="3547979"/>
                </a:lnTo>
                <a:lnTo>
                  <a:pt x="0" y="35479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785738"/>
            <a:ext cx="10949835" cy="188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3"/>
              </a:lnSpc>
            </a:pPr>
            <a:r>
              <a:rPr lang="en-US" sz="363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Data Given:</a:t>
            </a:r>
            <a:r>
              <a:rPr lang="en-US" sz="363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Pima Indians Diabetes Database</a:t>
            </a:r>
          </a:p>
          <a:p>
            <a:pPr algn="just" marL="785556" indent="-392778" lvl="1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Longitudinal, epidemiological Study</a:t>
            </a:r>
          </a:p>
          <a:p>
            <a:pPr algn="just" marL="1571113" indent="-523704" lvl="2">
              <a:lnSpc>
                <a:spcPts val="5093"/>
              </a:lnSpc>
              <a:spcBef>
                <a:spcPct val="0"/>
              </a:spcBef>
              <a:buFont typeface="Arial"/>
              <a:buChar char="⚬"/>
            </a:pPr>
            <a:r>
              <a:rPr lang="en-US" sz="363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collection began in the mid-1960s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6242392"/>
            <a:ext cx="15234243" cy="2544445"/>
            <a:chOff x="0" y="0"/>
            <a:chExt cx="20312324" cy="339259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268730"/>
              <a:ext cx="19436836" cy="2123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59" indent="-367030" lvl="1">
                <a:lnSpc>
                  <a:spcPts val="4249"/>
                </a:lnSpc>
                <a:buFont typeface="Arial"/>
                <a:buChar char="•"/>
              </a:pPr>
              <a:r>
                <a:rPr lang="en-US" sz="3399" spc="16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Identify which risk factors best predict diabetes</a:t>
              </a:r>
            </a:p>
            <a:p>
              <a:pPr algn="l" marL="734059" indent="-367030" lvl="1">
                <a:lnSpc>
                  <a:spcPts val="4249"/>
                </a:lnSpc>
                <a:buFont typeface="Arial"/>
                <a:buChar char="•"/>
              </a:pPr>
              <a:r>
                <a:rPr lang="en-US" sz="3399" spc="16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See which factors are modifiable</a:t>
              </a:r>
            </a:p>
            <a:p>
              <a:pPr algn="l" marL="734059" indent="-367030" lvl="1">
                <a:lnSpc>
                  <a:spcPts val="4249"/>
                </a:lnSpc>
                <a:buFont typeface="Arial"/>
                <a:buChar char="•"/>
              </a:pPr>
              <a:r>
                <a:rPr lang="en-US" sz="3399" spc="16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Make appropriate recommendations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75488" y="-28575"/>
              <a:ext cx="19436836" cy="942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25"/>
                </a:lnSpc>
              </a:pPr>
              <a:r>
                <a:rPr lang="en-US" b="true" sz="4500" spc="22">
                  <a:solidFill>
                    <a:srgbClr val="2D799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Objectives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1396" y="6226201"/>
            <a:ext cx="13885209" cy="2863824"/>
          </a:xfrm>
          <a:custGeom>
            <a:avLst/>
            <a:gdLst/>
            <a:ahLst/>
            <a:cxnLst/>
            <a:rect r="r" b="b" t="t" l="l"/>
            <a:pathLst>
              <a:path h="2863824" w="13885209">
                <a:moveTo>
                  <a:pt x="0" y="0"/>
                </a:moveTo>
                <a:lnTo>
                  <a:pt x="13885208" y="0"/>
                </a:lnTo>
                <a:lnTo>
                  <a:pt x="13885208" y="2863825"/>
                </a:lnTo>
                <a:lnTo>
                  <a:pt x="0" y="2863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5187" y="1387820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Pima Indians Diabetes Database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70996"/>
            <a:ext cx="16230600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Source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: National Institute of Diabetes and Digestive and Kidney Diseases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Observations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: 768 female Pima Indian Heritage patients (21+) living near Phoenix, Arizona, USA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Variables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: Several independent variables, one dependent variable (outcome)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Unique Feature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: Diabetes Pedigree Function (DPF) is unique feature of dataset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62816" y="990600"/>
            <a:ext cx="12958270" cy="97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b="true" sz="6200" spc="62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PUBLIC HEALTH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88797"/>
            <a:ext cx="16230600" cy="533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9"/>
              </a:lnSpc>
            </a:pPr>
            <a:r>
              <a:rPr lang="en-US" sz="3399" spc="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Diabetes is a chronic disease that occurs either when the pancreas does not produce enough insulin or when the body cannot effectively use the insulin it produces (World Health Organization, 2024).</a:t>
            </a:r>
          </a:p>
          <a:p>
            <a:pPr algn="ctr">
              <a:lnSpc>
                <a:spcPts val="4249"/>
              </a:lnSpc>
            </a:pPr>
          </a:p>
          <a:p>
            <a:pPr algn="ctr">
              <a:lnSpc>
                <a:spcPts val="4249"/>
              </a:lnSpc>
              <a:spcBef>
                <a:spcPct val="0"/>
              </a:spcBef>
            </a:pPr>
            <a:r>
              <a:rPr lang="en-US" sz="3399" spc="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Pima Indians have the highest recorded prevalence and incidence of non-insulin-dependent diabetes mellitus globally </a:t>
            </a:r>
          </a:p>
          <a:p>
            <a:pPr algn="ctr">
              <a:lnSpc>
                <a:spcPts val="4249"/>
              </a:lnSpc>
              <a:spcBef>
                <a:spcPct val="0"/>
              </a:spcBef>
            </a:pPr>
            <a:r>
              <a:rPr lang="en-US" sz="3399" spc="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(Knowler et al., 1978; King and Rewers, 1991)</a:t>
            </a:r>
          </a:p>
          <a:p>
            <a:pPr algn="ctr">
              <a:lnSpc>
                <a:spcPts val="4249"/>
              </a:lnSpc>
              <a:spcBef>
                <a:spcPct val="0"/>
              </a:spcBef>
            </a:pPr>
          </a:p>
          <a:p>
            <a:pPr algn="ctr">
              <a:lnSpc>
                <a:spcPts val="4249"/>
              </a:lnSpc>
              <a:spcBef>
                <a:spcPct val="0"/>
              </a:spcBef>
            </a:pPr>
            <a:r>
              <a:rPr lang="en-US" sz="3399" spc="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prevalence of diabetes for Native Americans is higher for women than for men (rates vary among tribes)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688435">
            <a:off x="-3796414" y="-3586659"/>
            <a:ext cx="17288011" cy="14647660"/>
          </a:xfrm>
          <a:custGeom>
            <a:avLst/>
            <a:gdLst/>
            <a:ahLst/>
            <a:cxnLst/>
            <a:rect r="r" b="b" t="t" l="l"/>
            <a:pathLst>
              <a:path h="14647660" w="17288011">
                <a:moveTo>
                  <a:pt x="0" y="0"/>
                </a:moveTo>
                <a:lnTo>
                  <a:pt x="17288010" y="0"/>
                </a:lnTo>
                <a:lnTo>
                  <a:pt x="17288010" y="14647660"/>
                </a:lnTo>
                <a:lnTo>
                  <a:pt x="0" y="146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4809" y="6941023"/>
            <a:ext cx="2082878" cy="984633"/>
          </a:xfrm>
          <a:custGeom>
            <a:avLst/>
            <a:gdLst/>
            <a:ahLst/>
            <a:cxnLst/>
            <a:rect r="r" b="b" t="t" l="l"/>
            <a:pathLst>
              <a:path h="984633" w="2082878">
                <a:moveTo>
                  <a:pt x="0" y="0"/>
                </a:moveTo>
                <a:lnTo>
                  <a:pt x="2082878" y="0"/>
                </a:lnTo>
                <a:lnTo>
                  <a:pt x="2082878" y="984633"/>
                </a:lnTo>
                <a:lnTo>
                  <a:pt x="0" y="984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1714" y="3120499"/>
            <a:ext cx="7709068" cy="330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b="true" sz="7000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DEEP DIVE </a:t>
            </a:r>
          </a:p>
          <a:p>
            <a:pPr algn="ctr">
              <a:lnSpc>
                <a:spcPts val="8750"/>
              </a:lnSpc>
            </a:pPr>
            <a:r>
              <a:rPr lang="en-US" b="true" sz="7000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INTO THE DATASET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70287" y="2765910"/>
            <a:ext cx="4731283" cy="8942287"/>
          </a:xfrm>
          <a:custGeom>
            <a:avLst/>
            <a:gdLst/>
            <a:ahLst/>
            <a:cxnLst/>
            <a:rect r="r" b="b" t="t" l="l"/>
            <a:pathLst>
              <a:path h="8942287" w="4731283">
                <a:moveTo>
                  <a:pt x="0" y="0"/>
                </a:moveTo>
                <a:lnTo>
                  <a:pt x="4731283" y="0"/>
                </a:lnTo>
                <a:lnTo>
                  <a:pt x="4731283" y="8942287"/>
                </a:lnTo>
                <a:lnTo>
                  <a:pt x="0" y="8942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08555"/>
            <a:ext cx="16230600" cy="717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Pregnancies: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Number of times pregnant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Glucose: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Plasma glucose concentration after a 2-hour oral glucose tolerance test (mg/dL)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BloodPressure: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Diastolic blood pressure (mmHg)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SkinThickness: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Tricep skinfold thicknesss (mm)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Insulin: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2-hour serum insulin (µU/mL)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BMI: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Body mass index (weight in kg / height in m²)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DiabetesPedigreeFunction: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A numeric score used to estimate an individual's genetic risk of developing type 2 diabetes based on their family history (Zhang, 2025)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Age: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Age of the patient in years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Outcome: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0 = No diabetes, 1 = Diabetes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5187" y="100012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4764" y="5356370"/>
            <a:ext cx="7372291" cy="4489536"/>
          </a:xfrm>
          <a:custGeom>
            <a:avLst/>
            <a:gdLst/>
            <a:ahLst/>
            <a:cxnLst/>
            <a:rect r="r" b="b" t="t" l="l"/>
            <a:pathLst>
              <a:path h="4489536" w="7372291">
                <a:moveTo>
                  <a:pt x="0" y="0"/>
                </a:moveTo>
                <a:lnTo>
                  <a:pt x="7372291" y="0"/>
                </a:lnTo>
                <a:lnTo>
                  <a:pt x="7372291" y="4489536"/>
                </a:lnTo>
                <a:lnTo>
                  <a:pt x="0" y="4489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3141169">
            <a:off x="646175" y="4568198"/>
            <a:ext cx="1249733" cy="754526"/>
          </a:xfrm>
          <a:custGeom>
            <a:avLst/>
            <a:gdLst/>
            <a:ahLst/>
            <a:cxnLst/>
            <a:rect r="r" b="b" t="t" l="l"/>
            <a:pathLst>
              <a:path h="754526" w="1249733">
                <a:moveTo>
                  <a:pt x="0" y="754526"/>
                </a:moveTo>
                <a:lnTo>
                  <a:pt x="1249733" y="754526"/>
                </a:lnTo>
                <a:lnTo>
                  <a:pt x="1249733" y="0"/>
                </a:lnTo>
                <a:lnTo>
                  <a:pt x="0" y="0"/>
                </a:lnTo>
                <a:lnTo>
                  <a:pt x="0" y="7545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5187" y="100012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10 - Point Inspection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23255"/>
            <a:ext cx="16230600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Shape: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768 observations and 9 features (6,912 total data points)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Columns: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9 total columns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Data Type: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All variables were int64, except BMI and DPF (float64)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First Look: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Noticed values that look like </a:t>
            </a:r>
            <a:r>
              <a:rPr lang="en-US" sz="3400" u="sng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placeholders for missing data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Last Look: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Data ended cleanly and remains consistent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8288" y="5956445"/>
            <a:ext cx="8771425" cy="3683998"/>
          </a:xfrm>
          <a:custGeom>
            <a:avLst/>
            <a:gdLst/>
            <a:ahLst/>
            <a:cxnLst/>
            <a:rect r="r" b="b" t="t" l="l"/>
            <a:pathLst>
              <a:path h="3683998" w="8771425">
                <a:moveTo>
                  <a:pt x="0" y="0"/>
                </a:moveTo>
                <a:lnTo>
                  <a:pt x="8771424" y="0"/>
                </a:lnTo>
                <a:lnTo>
                  <a:pt x="8771424" y="3683999"/>
                </a:lnTo>
                <a:lnTo>
                  <a:pt x="0" y="3683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5187" y="100012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10 Point Inspection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23255"/>
            <a:ext cx="16230600" cy="35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Memory Usage: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0.06 MB, very small dataset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Missing Values: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No missing values according to .isnull( 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Duplicates: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No duplicates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Descriptive Statistics: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Identified ranges and min values of </a:t>
            </a:r>
            <a:r>
              <a:rPr lang="en-US" sz="3400" u="sng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0 representin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</a:t>
            </a:r>
            <a:r>
              <a:rPr lang="en-US" sz="3400" u="sng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biologically impossible measurements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Unique Values: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All features had high cardinality, except outcome (binary).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2306198" y="-7204419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6015755" y="4953293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5187" y="1905214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Challenges with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2445" y="3065780"/>
            <a:ext cx="14638625" cy="492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4"/>
              </a:lnSpc>
            </a:pPr>
            <a:r>
              <a:rPr lang="en-US" sz="3496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This dataset uses 0 to represent missing values</a:t>
            </a:r>
          </a:p>
          <a:p>
            <a:pPr algn="l">
              <a:lnSpc>
                <a:spcPts val="4894"/>
              </a:lnSpc>
            </a:pPr>
            <a:r>
              <a:rPr lang="en-US" sz="3496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Standard .isnull( ) checks would not detect these as missing</a:t>
            </a:r>
          </a:p>
          <a:p>
            <a:pPr algn="l">
              <a:lnSpc>
                <a:spcPts val="4894"/>
              </a:lnSpc>
            </a:pPr>
          </a:p>
          <a:p>
            <a:pPr algn="l">
              <a:lnSpc>
                <a:spcPts val="4894"/>
              </a:lnSpc>
            </a:pPr>
            <a:r>
              <a:rPr lang="en-US" sz="3496" b="true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Handled by:</a:t>
            </a:r>
          </a:p>
          <a:p>
            <a:pPr algn="l" marL="754868" indent="-377434" lvl="1">
              <a:lnSpc>
                <a:spcPts val="4894"/>
              </a:lnSpc>
              <a:buFont typeface="Arial"/>
              <a:buChar char="•"/>
            </a:pPr>
            <a:r>
              <a:rPr lang="en-US" sz="3496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Identifying which columns where 0 is biologically impossible </a:t>
            </a:r>
          </a:p>
          <a:p>
            <a:pPr algn="l" marL="1509736" indent="-50324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Glucose, BloodPressure, SkinThickness, Insulin, BMI</a:t>
            </a:r>
          </a:p>
          <a:p>
            <a:pPr algn="l" marL="754868" indent="-377434" lvl="1">
              <a:lnSpc>
                <a:spcPts val="4894"/>
              </a:lnSpc>
              <a:buFont typeface="Arial"/>
              <a:buChar char="•"/>
            </a:pPr>
            <a:r>
              <a:rPr lang="en-US" sz="3496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Replacing impossible zeroes with NaN (placeholder for missing data)</a:t>
            </a:r>
          </a:p>
          <a:p>
            <a:pPr algn="l" marL="754868" indent="-377434" lvl="1">
              <a:lnSpc>
                <a:spcPts val="4894"/>
              </a:lnSpc>
              <a:buFont typeface="Arial"/>
              <a:buChar char="•"/>
            </a:pPr>
            <a:r>
              <a:rPr lang="en-US" sz="3496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Analyzing only non-zero values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79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97147">
            <a:off x="-4977984" y="-3197881"/>
            <a:ext cx="17288011" cy="14647660"/>
          </a:xfrm>
          <a:custGeom>
            <a:avLst/>
            <a:gdLst/>
            <a:ahLst/>
            <a:cxnLst/>
            <a:rect r="r" b="b" t="t" l="l"/>
            <a:pathLst>
              <a:path h="14647660" w="17288011">
                <a:moveTo>
                  <a:pt x="0" y="0"/>
                </a:moveTo>
                <a:lnTo>
                  <a:pt x="17288011" y="0"/>
                </a:lnTo>
                <a:lnTo>
                  <a:pt x="17288011" y="14647660"/>
                </a:lnTo>
                <a:lnTo>
                  <a:pt x="0" y="146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50232" y="4022725"/>
            <a:ext cx="7709068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b="true" sz="7000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RISK FACTOR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363327" y="6935953"/>
            <a:ext cx="2082878" cy="984633"/>
          </a:xfrm>
          <a:custGeom>
            <a:avLst/>
            <a:gdLst/>
            <a:ahLst/>
            <a:cxnLst/>
            <a:rect r="r" b="b" t="t" l="l"/>
            <a:pathLst>
              <a:path h="984633" w="2082878">
                <a:moveTo>
                  <a:pt x="0" y="0"/>
                </a:moveTo>
                <a:lnTo>
                  <a:pt x="2082878" y="0"/>
                </a:lnTo>
                <a:lnTo>
                  <a:pt x="2082878" y="984633"/>
                </a:lnTo>
                <a:lnTo>
                  <a:pt x="0" y="984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3173" y="2318574"/>
            <a:ext cx="5918765" cy="8845980"/>
          </a:xfrm>
          <a:custGeom>
            <a:avLst/>
            <a:gdLst/>
            <a:ahLst/>
            <a:cxnLst/>
            <a:rect r="r" b="b" t="t" l="l"/>
            <a:pathLst>
              <a:path h="8845980" w="5918765">
                <a:moveTo>
                  <a:pt x="0" y="0"/>
                </a:moveTo>
                <a:lnTo>
                  <a:pt x="5918765" y="0"/>
                </a:lnTo>
                <a:lnTo>
                  <a:pt x="5918765" y="8845980"/>
                </a:lnTo>
                <a:lnTo>
                  <a:pt x="0" y="8845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5187" y="177551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18678" y="2903516"/>
            <a:ext cx="8730097" cy="5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Sharp increase from Young Adults (21.21%) to Adults (46.06%)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Prevalence continues to rise with age before declining in Seniors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Overall pattern supports research that </a:t>
            </a: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 diabetes risk increases with age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Higher prevalence with age may reflect increased insulin resistance and accumulated health risk factors.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7132171">
            <a:off x="12306198" y="-7204419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477909">
            <a:off x="-6015755" y="4953293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3292" y="2960666"/>
            <a:ext cx="8855386" cy="5490339"/>
          </a:xfrm>
          <a:custGeom>
            <a:avLst/>
            <a:gdLst/>
            <a:ahLst/>
            <a:cxnLst/>
            <a:rect r="r" b="b" t="t" l="l"/>
            <a:pathLst>
              <a:path h="5490339" w="8855386">
                <a:moveTo>
                  <a:pt x="0" y="0"/>
                </a:moveTo>
                <a:lnTo>
                  <a:pt x="8855386" y="0"/>
                </a:lnTo>
                <a:lnTo>
                  <a:pt x="8855386" y="5490339"/>
                </a:lnTo>
                <a:lnTo>
                  <a:pt x="0" y="54903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2306198" y="-7204419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6015755" y="4953293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2774" y="1976456"/>
            <a:ext cx="8266473" cy="7972293"/>
          </a:xfrm>
          <a:custGeom>
            <a:avLst/>
            <a:gdLst/>
            <a:ahLst/>
            <a:cxnLst/>
            <a:rect r="r" b="b" t="t" l="l"/>
            <a:pathLst>
              <a:path h="7972293" w="8266473">
                <a:moveTo>
                  <a:pt x="0" y="0"/>
                </a:moveTo>
                <a:lnTo>
                  <a:pt x="8266473" y="0"/>
                </a:lnTo>
                <a:lnTo>
                  <a:pt x="8266473" y="7972293"/>
                </a:lnTo>
                <a:lnTo>
                  <a:pt x="0" y="79722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9043" y="65722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BMI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50361" y="2348183"/>
            <a:ext cx="7748254" cy="717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Normal weight individuals have very low prevalence (~6%).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Obese Class III is the highest (~56%).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A substantial increase in risk beginning at BMI ≥ 25.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Diabetes prevalence increases steadily as BMI category increases.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The evidence suggests that </a:t>
            </a: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BMI is a significant risk factor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for diabetes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in this population.</a:t>
            </a:r>
          </a:p>
          <a:p>
            <a:pPr algn="l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2306198" y="-7204419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6015755" y="4953293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2977" y="3675820"/>
            <a:ext cx="8401023" cy="4809586"/>
          </a:xfrm>
          <a:custGeom>
            <a:avLst/>
            <a:gdLst/>
            <a:ahLst/>
            <a:cxnLst/>
            <a:rect r="r" b="b" t="t" l="l"/>
            <a:pathLst>
              <a:path h="4809586" w="8401023">
                <a:moveTo>
                  <a:pt x="0" y="0"/>
                </a:moveTo>
                <a:lnTo>
                  <a:pt x="8401023" y="0"/>
                </a:lnTo>
                <a:lnTo>
                  <a:pt x="8401023" y="4809585"/>
                </a:lnTo>
                <a:lnTo>
                  <a:pt x="0" y="48095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5187" y="177551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Glucose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1365" y="3927963"/>
            <a:ext cx="7672287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Normal glucose individuals have moderate prevalence (~36%).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&gt;300 is the highest (~55%).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Diabetes prevalence increases as glucose level increases.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As the insulin levels rise, glucose rise is also correlated.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evidence suggests that </a:t>
            </a:r>
            <a:r>
              <a:rPr lang="en-US" b="true" sz="300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glucose level is a significant risk factor for diabetes</a:t>
            </a: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 this population.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2306198" y="-7204419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6015755" y="4953293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2774" y="3303987"/>
            <a:ext cx="9945630" cy="5880354"/>
          </a:xfrm>
          <a:custGeom>
            <a:avLst/>
            <a:gdLst/>
            <a:ahLst/>
            <a:cxnLst/>
            <a:rect r="r" b="b" t="t" l="l"/>
            <a:pathLst>
              <a:path h="5880354" w="9945630">
                <a:moveTo>
                  <a:pt x="0" y="0"/>
                </a:moveTo>
                <a:lnTo>
                  <a:pt x="9945630" y="0"/>
                </a:lnTo>
                <a:lnTo>
                  <a:pt x="9945630" y="5880354"/>
                </a:lnTo>
                <a:lnTo>
                  <a:pt x="0" y="58803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5187" y="177551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Pregnancy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96933" y="2629744"/>
            <a:ext cx="6462367" cy="597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Individuals diagnosed with diabetes increases to </a:t>
            </a: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56.2%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for people with 7+ pregnancies.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After 1 pregnancy, the possibility of the individual being diagnosed with diabetes gradually increases, suggesting a correlation of the two values.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2306198" y="-7204419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6015755" y="4953293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6693" y="2504178"/>
            <a:ext cx="6662986" cy="4928784"/>
          </a:xfrm>
          <a:custGeom>
            <a:avLst/>
            <a:gdLst/>
            <a:ahLst/>
            <a:cxnLst/>
            <a:rect r="r" b="b" t="t" l="l"/>
            <a:pathLst>
              <a:path h="4928784" w="6662986">
                <a:moveTo>
                  <a:pt x="0" y="0"/>
                </a:moveTo>
                <a:lnTo>
                  <a:pt x="6662986" y="0"/>
                </a:lnTo>
                <a:lnTo>
                  <a:pt x="6662986" y="4928784"/>
                </a:lnTo>
                <a:lnTo>
                  <a:pt x="0" y="49287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36679" y="5859599"/>
            <a:ext cx="6765999" cy="4144175"/>
          </a:xfrm>
          <a:custGeom>
            <a:avLst/>
            <a:gdLst/>
            <a:ahLst/>
            <a:cxnLst/>
            <a:rect r="r" b="b" t="t" l="l"/>
            <a:pathLst>
              <a:path h="4144175" w="6765999">
                <a:moveTo>
                  <a:pt x="0" y="0"/>
                </a:moveTo>
                <a:lnTo>
                  <a:pt x="6766000" y="0"/>
                </a:lnTo>
                <a:lnTo>
                  <a:pt x="6766000" y="4144174"/>
                </a:lnTo>
                <a:lnTo>
                  <a:pt x="0" y="41441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5187" y="1775515"/>
            <a:ext cx="1457762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500" spc="22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Blood Pressure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9464" y="3272999"/>
            <a:ext cx="6462367" cy="597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BMI vs Blood Pressure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Blood Pressure vs Diabetes Outcome 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Individuals with higher blood pressure are more likely to have diabetes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46.8% of individuals with higher blood pressure, had diabetes vs 31.7%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5360" y="2719299"/>
            <a:ext cx="7704683" cy="6770490"/>
          </a:xfrm>
          <a:custGeom>
            <a:avLst/>
            <a:gdLst/>
            <a:ahLst/>
            <a:cxnLst/>
            <a:rect r="r" b="b" t="t" l="l"/>
            <a:pathLst>
              <a:path h="6770490" w="7704683">
                <a:moveTo>
                  <a:pt x="0" y="0"/>
                </a:moveTo>
                <a:lnTo>
                  <a:pt x="7704683" y="0"/>
                </a:lnTo>
                <a:lnTo>
                  <a:pt x="7704683" y="6770490"/>
                </a:lnTo>
                <a:lnTo>
                  <a:pt x="0" y="6770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360" y="571500"/>
            <a:ext cx="1654394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 spc="6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WHICH RISK FACTORS ARE THE STRONGEST?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18678" y="2903516"/>
            <a:ext cx="8730097" cy="5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Strongest Risk Factors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(Correlation with Diabetes Outcome):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Glucose (r =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0.49)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BMI (r = 0.31)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Insulin (r = 0.30)</a:t>
            </a:r>
          </a:p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Glucose is more strongly associated with diabetes outcome than other measured risk factors.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6074" y="1000125"/>
            <a:ext cx="11495853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 spc="6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HOW DO RISK FACTORS INTERACT?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28087" y="3361313"/>
            <a:ext cx="14251814" cy="5580507"/>
            <a:chOff x="0" y="0"/>
            <a:chExt cx="3753564" cy="14697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3564" cy="1469763"/>
            </a:xfrm>
            <a:custGeom>
              <a:avLst/>
              <a:gdLst/>
              <a:ahLst/>
              <a:cxnLst/>
              <a:rect r="r" b="b" t="t" l="l"/>
              <a:pathLst>
                <a:path h="1469763" w="3753564">
                  <a:moveTo>
                    <a:pt x="6519" y="0"/>
                  </a:moveTo>
                  <a:lnTo>
                    <a:pt x="3747046" y="0"/>
                  </a:lnTo>
                  <a:cubicBezTo>
                    <a:pt x="3748775" y="0"/>
                    <a:pt x="3750433" y="687"/>
                    <a:pt x="3751655" y="1909"/>
                  </a:cubicBezTo>
                  <a:cubicBezTo>
                    <a:pt x="3752878" y="3132"/>
                    <a:pt x="3753564" y="4790"/>
                    <a:pt x="3753564" y="6519"/>
                  </a:cubicBezTo>
                  <a:lnTo>
                    <a:pt x="3753564" y="1463245"/>
                  </a:lnTo>
                  <a:cubicBezTo>
                    <a:pt x="3753564" y="1464973"/>
                    <a:pt x="3752878" y="1466631"/>
                    <a:pt x="3751655" y="1467854"/>
                  </a:cubicBezTo>
                  <a:cubicBezTo>
                    <a:pt x="3750433" y="1469076"/>
                    <a:pt x="3748775" y="1469763"/>
                    <a:pt x="3747046" y="1469763"/>
                  </a:cubicBezTo>
                  <a:lnTo>
                    <a:pt x="6519" y="1469763"/>
                  </a:lnTo>
                  <a:cubicBezTo>
                    <a:pt x="4790" y="1469763"/>
                    <a:pt x="3132" y="1469076"/>
                    <a:pt x="1909" y="1467854"/>
                  </a:cubicBezTo>
                  <a:cubicBezTo>
                    <a:pt x="687" y="1466631"/>
                    <a:pt x="0" y="1464973"/>
                    <a:pt x="0" y="1463245"/>
                  </a:cubicBezTo>
                  <a:lnTo>
                    <a:pt x="0" y="6519"/>
                  </a:lnTo>
                  <a:cubicBezTo>
                    <a:pt x="0" y="4790"/>
                    <a:pt x="687" y="3132"/>
                    <a:pt x="1909" y="1909"/>
                  </a:cubicBezTo>
                  <a:cubicBezTo>
                    <a:pt x="3132" y="687"/>
                    <a:pt x="4790" y="0"/>
                    <a:pt x="6519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53564" cy="1526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734061" indent="-367031" lvl="1">
                <a:lnSpc>
                  <a:spcPts val="4760"/>
                </a:lnSpc>
                <a:buFont typeface="Arial"/>
                <a:buChar char="•"/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BMI ↔ Insulin ↔ Glucose: 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Higher BMI increases insulin resistance, raising blood glucose levels.</a:t>
              </a:r>
            </a:p>
            <a:p>
              <a:pPr algn="ctr" marL="734061" indent="-367031" lvl="1">
                <a:lnSpc>
                  <a:spcPts val="4760"/>
                </a:lnSpc>
                <a:buFont typeface="Arial"/>
                <a:buChar char="•"/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Age ↔ Insulin: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 Increasing age reduces insulin sensitivity and adds metabolic strain.</a:t>
              </a:r>
            </a:p>
            <a:p>
              <a:pPr algn="ctr" marL="734061" indent="-367031" lvl="1">
                <a:lnSpc>
                  <a:spcPts val="4760"/>
                </a:lnSpc>
                <a:buFont typeface="Arial"/>
                <a:buChar char="•"/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Pregnancies ↔ Glucose: 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More pregnancies (especially with gestational diabetes) increase later glucose dysregulation risk.</a:t>
              </a:r>
            </a:p>
            <a:p>
              <a:pPr algn="ctr" marL="734061" indent="-367031" lvl="1">
                <a:lnSpc>
                  <a:spcPts val="4760"/>
                </a:lnSpc>
                <a:buFont typeface="Arial"/>
                <a:buChar char="•"/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Metabolic Syndrome: 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High BP, high BMI, insulin resistance, and abnormal glucose often cluster together.</a:t>
              </a:r>
            </a:p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57131" y="8956675"/>
            <a:ext cx="21937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799C"/>
                </a:solidFill>
                <a:latin typeface="Nunito"/>
                <a:ea typeface="Nunito"/>
                <a:cs typeface="Nunito"/>
                <a:sym typeface="Nunito"/>
              </a:rPr>
              <a:t>(Mayo Clinic, 2025)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69447" y="785507"/>
            <a:ext cx="2709879" cy="8715986"/>
          </a:xfrm>
          <a:custGeom>
            <a:avLst/>
            <a:gdLst/>
            <a:ahLst/>
            <a:cxnLst/>
            <a:rect r="r" b="b" t="t" l="l"/>
            <a:pathLst>
              <a:path h="8715986" w="2709879">
                <a:moveTo>
                  <a:pt x="0" y="0"/>
                </a:moveTo>
                <a:lnTo>
                  <a:pt x="2709880" y="0"/>
                </a:lnTo>
                <a:lnTo>
                  <a:pt x="2709880" y="8715986"/>
                </a:lnTo>
                <a:lnTo>
                  <a:pt x="0" y="8715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4571" y="1493526"/>
            <a:ext cx="968594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WHICH RISK FACTORS ARE MODIFIABLE?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607407"/>
            <a:ext cx="10683158" cy="4671775"/>
            <a:chOff x="0" y="0"/>
            <a:chExt cx="2813671" cy="12304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13671" cy="1230426"/>
            </a:xfrm>
            <a:custGeom>
              <a:avLst/>
              <a:gdLst/>
              <a:ahLst/>
              <a:cxnLst/>
              <a:rect r="r" b="b" t="t" l="l"/>
              <a:pathLst>
                <a:path h="1230426" w="2813671">
                  <a:moveTo>
                    <a:pt x="8696" y="0"/>
                  </a:moveTo>
                  <a:lnTo>
                    <a:pt x="2804975" y="0"/>
                  </a:lnTo>
                  <a:cubicBezTo>
                    <a:pt x="2809778" y="0"/>
                    <a:pt x="2813671" y="3893"/>
                    <a:pt x="2813671" y="8696"/>
                  </a:cubicBezTo>
                  <a:lnTo>
                    <a:pt x="2813671" y="1221730"/>
                  </a:lnTo>
                  <a:cubicBezTo>
                    <a:pt x="2813671" y="1226533"/>
                    <a:pt x="2809778" y="1230426"/>
                    <a:pt x="2804975" y="1230426"/>
                  </a:cubicBezTo>
                  <a:lnTo>
                    <a:pt x="8696" y="1230426"/>
                  </a:lnTo>
                  <a:cubicBezTo>
                    <a:pt x="3893" y="1230426"/>
                    <a:pt x="0" y="1226533"/>
                    <a:pt x="0" y="1221730"/>
                  </a:cubicBezTo>
                  <a:lnTo>
                    <a:pt x="0" y="8696"/>
                  </a:lnTo>
                  <a:cubicBezTo>
                    <a:pt x="0" y="3893"/>
                    <a:pt x="3893" y="0"/>
                    <a:pt x="8696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813671" cy="1287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60"/>
                </a:lnSpc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BMI: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 diet, exercise, weight management</a:t>
              </a:r>
            </a:p>
            <a:p>
              <a:pPr algn="ctr">
                <a:lnSpc>
                  <a:spcPts val="4760"/>
                </a:lnSpc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Glucose levels: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 diet, exercise, medication</a:t>
              </a:r>
            </a:p>
            <a:p>
              <a:pPr algn="ctr">
                <a:lnSpc>
                  <a:spcPts val="4760"/>
                </a:lnSpc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Blood pressure: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 diet, exercise, medication</a:t>
              </a:r>
            </a:p>
            <a:p>
              <a:pPr algn="ctr">
                <a:lnSpc>
                  <a:spcPts val="4760"/>
                </a:lnSpc>
              </a:pPr>
              <a:r>
                <a:rPr lang="en-US" b="true" sz="3400">
                  <a:solidFill>
                    <a:srgbClr val="5C322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Insulin levels:</a:t>
              </a: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 diet, exercise, weight management, medication</a:t>
              </a:r>
            </a:p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Age and Pregnancies are non-modifiable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413358" y="8459489"/>
            <a:ext cx="4068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799C"/>
                </a:solidFill>
                <a:latin typeface="Nunito"/>
                <a:ea typeface="Nunito"/>
                <a:cs typeface="Nunito"/>
                <a:sym typeface="Nunito"/>
              </a:rPr>
              <a:t>(American Heart Association, 2024)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79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97147">
            <a:off x="-4977984" y="-3197881"/>
            <a:ext cx="17288011" cy="14647660"/>
          </a:xfrm>
          <a:custGeom>
            <a:avLst/>
            <a:gdLst/>
            <a:ahLst/>
            <a:cxnLst/>
            <a:rect r="r" b="b" t="t" l="l"/>
            <a:pathLst>
              <a:path h="14647660" w="17288011">
                <a:moveTo>
                  <a:pt x="0" y="0"/>
                </a:moveTo>
                <a:lnTo>
                  <a:pt x="17288011" y="0"/>
                </a:lnTo>
                <a:lnTo>
                  <a:pt x="17288011" y="14647660"/>
                </a:lnTo>
                <a:lnTo>
                  <a:pt x="0" y="146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4693" y="3027399"/>
            <a:ext cx="10003307" cy="10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b="true" sz="7000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RECOMMENDATIONS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363327" y="6935953"/>
            <a:ext cx="2082878" cy="984633"/>
          </a:xfrm>
          <a:custGeom>
            <a:avLst/>
            <a:gdLst/>
            <a:ahLst/>
            <a:cxnLst/>
            <a:rect r="r" b="b" t="t" l="l"/>
            <a:pathLst>
              <a:path h="984633" w="2082878">
                <a:moveTo>
                  <a:pt x="0" y="0"/>
                </a:moveTo>
                <a:lnTo>
                  <a:pt x="2082878" y="0"/>
                </a:lnTo>
                <a:lnTo>
                  <a:pt x="2082878" y="984633"/>
                </a:lnTo>
                <a:lnTo>
                  <a:pt x="0" y="984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3173" y="2318574"/>
            <a:ext cx="5918765" cy="8845980"/>
          </a:xfrm>
          <a:custGeom>
            <a:avLst/>
            <a:gdLst/>
            <a:ahLst/>
            <a:cxnLst/>
            <a:rect r="r" b="b" t="t" l="l"/>
            <a:pathLst>
              <a:path h="8845980" w="5918765">
                <a:moveTo>
                  <a:pt x="0" y="0"/>
                </a:moveTo>
                <a:lnTo>
                  <a:pt x="5918765" y="0"/>
                </a:lnTo>
                <a:lnTo>
                  <a:pt x="5918765" y="8845980"/>
                </a:lnTo>
                <a:lnTo>
                  <a:pt x="0" y="8845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132171">
            <a:off x="11059778" y="-7661738"/>
            <a:ext cx="11159046" cy="12081644"/>
          </a:xfrm>
          <a:custGeom>
            <a:avLst/>
            <a:gdLst/>
            <a:ahLst/>
            <a:cxnLst/>
            <a:rect r="r" b="b" t="t" l="l"/>
            <a:pathLst>
              <a:path h="12081644" w="11159046">
                <a:moveTo>
                  <a:pt x="0" y="12081645"/>
                </a:moveTo>
                <a:lnTo>
                  <a:pt x="11159046" y="12081645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77909">
            <a:off x="-5425642" y="4779307"/>
            <a:ext cx="12537058" cy="13573586"/>
          </a:xfrm>
          <a:custGeom>
            <a:avLst/>
            <a:gdLst/>
            <a:ahLst/>
            <a:cxnLst/>
            <a:rect r="r" b="b" t="t" l="l"/>
            <a:pathLst>
              <a:path h="13573586" w="12537058">
                <a:moveTo>
                  <a:pt x="0" y="0"/>
                </a:moveTo>
                <a:lnTo>
                  <a:pt x="12537058" y="0"/>
                </a:lnTo>
                <a:lnTo>
                  <a:pt x="12537058" y="13573587"/>
                </a:lnTo>
                <a:lnTo>
                  <a:pt x="0" y="13573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01030" y="1082946"/>
            <a:ext cx="9685940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 WHAT SHOULD THE PREVENTION PROGRAM PRIORITIZE?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9782">
            <a:off x="1504858" y="6780844"/>
            <a:ext cx="1326215" cy="2464251"/>
          </a:xfrm>
          <a:custGeom>
            <a:avLst/>
            <a:gdLst/>
            <a:ahLst/>
            <a:cxnLst/>
            <a:rect r="r" b="b" t="t" l="l"/>
            <a:pathLst>
              <a:path h="2464251" w="1326215">
                <a:moveTo>
                  <a:pt x="0" y="0"/>
                </a:moveTo>
                <a:lnTo>
                  <a:pt x="1326215" y="0"/>
                </a:lnTo>
                <a:lnTo>
                  <a:pt x="1326215" y="2464250"/>
                </a:lnTo>
                <a:lnTo>
                  <a:pt x="0" y="2464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76321">
            <a:off x="14252174" y="626830"/>
            <a:ext cx="2436144" cy="2241253"/>
          </a:xfrm>
          <a:custGeom>
            <a:avLst/>
            <a:gdLst/>
            <a:ahLst/>
            <a:cxnLst/>
            <a:rect r="r" b="b" t="t" l="l"/>
            <a:pathLst>
              <a:path h="2241253" w="2436144">
                <a:moveTo>
                  <a:pt x="0" y="0"/>
                </a:moveTo>
                <a:lnTo>
                  <a:pt x="2436144" y="0"/>
                </a:lnTo>
                <a:lnTo>
                  <a:pt x="2436144" y="2241253"/>
                </a:lnTo>
                <a:lnTo>
                  <a:pt x="0" y="2241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5819" y="3164495"/>
            <a:ext cx="1187562" cy="2676882"/>
          </a:xfrm>
          <a:custGeom>
            <a:avLst/>
            <a:gdLst/>
            <a:ahLst/>
            <a:cxnLst/>
            <a:rect r="r" b="b" t="t" l="l"/>
            <a:pathLst>
              <a:path h="2676882" w="1187562">
                <a:moveTo>
                  <a:pt x="0" y="0"/>
                </a:moveTo>
                <a:lnTo>
                  <a:pt x="1187562" y="0"/>
                </a:lnTo>
                <a:lnTo>
                  <a:pt x="1187562" y="2676882"/>
                </a:lnTo>
                <a:lnTo>
                  <a:pt x="0" y="26768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76618">
            <a:off x="15856614" y="2859265"/>
            <a:ext cx="1565374" cy="2459873"/>
          </a:xfrm>
          <a:custGeom>
            <a:avLst/>
            <a:gdLst/>
            <a:ahLst/>
            <a:cxnLst/>
            <a:rect r="r" b="b" t="t" l="l"/>
            <a:pathLst>
              <a:path h="2459873" w="1565374">
                <a:moveTo>
                  <a:pt x="0" y="0"/>
                </a:moveTo>
                <a:lnTo>
                  <a:pt x="1565374" y="0"/>
                </a:lnTo>
                <a:lnTo>
                  <a:pt x="1565374" y="2459873"/>
                </a:lnTo>
                <a:lnTo>
                  <a:pt x="0" y="245987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6337500">
            <a:off x="1144039" y="5095351"/>
            <a:ext cx="1470601" cy="2191952"/>
          </a:xfrm>
          <a:custGeom>
            <a:avLst/>
            <a:gdLst/>
            <a:ahLst/>
            <a:cxnLst/>
            <a:rect r="r" b="b" t="t" l="l"/>
            <a:pathLst>
              <a:path h="2191952" w="1470601">
                <a:moveTo>
                  <a:pt x="0" y="0"/>
                </a:moveTo>
                <a:lnTo>
                  <a:pt x="1470601" y="0"/>
                </a:lnTo>
                <a:lnTo>
                  <a:pt x="1470601" y="2191952"/>
                </a:lnTo>
                <a:lnTo>
                  <a:pt x="0" y="21919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38854" y="4032052"/>
            <a:ext cx="12596201" cy="477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Primary Focus: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Glucose control and BMI reduction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Strongest correlations + highly modifiable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Secondary Focus: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Improve insulin sensitivity through lifestyle intervention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Target High-Risk Groups: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Older adults and women with multiple pregnancies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Overall Strategy: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Emphasize sustainable diet, physical activity, and early screening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2936" y="1000125"/>
            <a:ext cx="12842129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PROPOSED DIABETES PREVENTION PROGRAM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86155"/>
            <a:ext cx="16230600" cy="477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Lifestyle Intervention: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Nutrition education, physical activity, and weight management programs to reduce BMI and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improve metabolic health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Screening &amp; Monitoring: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Regular glucose, BMI, and blood pressure screenings for early detection and timely clinical intervention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Targeted Outreach: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Focus on high-risk groups (older adults, women with multiple pregnancies or history of gestational diabetes)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Ongoing Support: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Health coaching, behavioral counseling, and digital tracking tools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 to promote long-term habit change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2936" y="1000125"/>
            <a:ext cx="1284212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WHAT ARE THE LIMITATIONS?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53645"/>
            <a:ext cx="16230600" cy="657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Missing Risk Factors: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No data about diet, exercise, medication, or socioeconomic factors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Small sample size &amp; Limited Representation: 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Only 768 records of female Pima Indians aged ≥21; findings may not generalize to males or other populations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Fewer diabetes cases than non-diabetes cases, limiting statistical power and model performance without adjustment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Binary Outcome Only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No diabetes types or severity data, restricting deeper analysis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 u="sng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Current analysis does not capture interactions between risk factors or predictive modeling capacity.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785627">
            <a:off x="9236068" y="-1614816"/>
            <a:ext cx="15953106" cy="13516632"/>
          </a:xfrm>
          <a:custGeom>
            <a:avLst/>
            <a:gdLst/>
            <a:ahLst/>
            <a:cxnLst/>
            <a:rect r="r" b="b" t="t" l="l"/>
            <a:pathLst>
              <a:path h="13516632" w="15953106">
                <a:moveTo>
                  <a:pt x="0" y="0"/>
                </a:moveTo>
                <a:lnTo>
                  <a:pt x="15953106" y="0"/>
                </a:lnTo>
                <a:lnTo>
                  <a:pt x="15953106" y="13516632"/>
                </a:lnTo>
                <a:lnTo>
                  <a:pt x="0" y="1351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6938" y="2369855"/>
            <a:ext cx="5731062" cy="8565446"/>
          </a:xfrm>
          <a:custGeom>
            <a:avLst/>
            <a:gdLst/>
            <a:ahLst/>
            <a:cxnLst/>
            <a:rect r="r" b="b" t="t" l="l"/>
            <a:pathLst>
              <a:path h="8565446" w="5731062">
                <a:moveTo>
                  <a:pt x="0" y="0"/>
                </a:moveTo>
                <a:lnTo>
                  <a:pt x="5731062" y="0"/>
                </a:lnTo>
                <a:lnTo>
                  <a:pt x="5731062" y="8565445"/>
                </a:lnTo>
                <a:lnTo>
                  <a:pt x="0" y="8565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5314" y="1163864"/>
            <a:ext cx="968594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5314" y="2236505"/>
            <a:ext cx="10731180" cy="717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Glucose and BMI were the strongest risk factors associated with diabetes outcome.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Modifiable factors (BMI, glucose, insulin, blood pressure) present key opportunities for prevention.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Age and pregnancy history help identify high-risk groups for targeted screening.</a:t>
            </a:r>
          </a:p>
          <a:p>
            <a:pPr algn="l">
              <a:lnSpc>
                <a:spcPts val="4760"/>
              </a:lnSpc>
            </a:pP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5C3224"/>
                </a:solidFill>
                <a:latin typeface="Nunito Bold"/>
                <a:ea typeface="Nunito Bold"/>
                <a:cs typeface="Nunito Bold"/>
                <a:sym typeface="Nunito Bold"/>
              </a:rPr>
              <a:t>Future Work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Develop predictive models to assess interactions among risk factors.</a:t>
            </a:r>
          </a:p>
          <a:p>
            <a:pPr algn="l" marL="1468122" indent="-489374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Evaluate how well risk factors predict diabetes beyond simple correlations.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1030" y="281320"/>
            <a:ext cx="968594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6000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SOURCES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71059"/>
            <a:ext cx="16230600" cy="769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AMERICAN HEART ASSOCIATION. (2024). DIABETES RISK FACTORS. WWW.HEART.ORG. HTTPS://WWW.HEART.ORG/EN/HEALTH-TOPICS/DIABETES/UNDERSTAND-YOUR-RISK-FOR-DIABETES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KING, H., &amp; REWERS, M. (1991). DIABETES IN ADULTS IS NOW A THIRD WORLD PROBLEM. THE WHO AD HOC DIABETES REPORTING GROUP. BULLETIN OF THE WORLD HEALTH ORGANIZATION, 69(6). HTTPS://PUBMED.NCBI.NLM.NIH.GOV/1786615/</a:t>
            </a: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‌</a:t>
            </a: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KNOWLER, W. C., BENNETT, P. H., HAMMAN, R. F., &amp; MILLER, M. (1978). DIABETES INCIDENCE AND PREVALENCE IN PIMA INDIANS: A 19-FOLD GREATER INCIDENCE THAN IN ROCHESTER, MINNESOTA. AMERICAN JOURNAL OF EPIDEMIOLOGY, 108(6), 497–505. HTTPS://DOI.ORG/10.1093/OXFORDJOURNALS.AJE.A112648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MAYO CLINIC. (2025). METABOLIC SYNDROME: INCREASED RISK OF CARDIOVASCULAR DISEASE, DIABETES-METABOLIC SYNDROME - SYMPTOMS &amp; CAUSES - MAYO CLINIC. MAYO CLINIC. HTTPS://WWW.MAYOCLINIC.ORG/DISEASES-CONDITIONS/METABOLIC-SYNDROME/SYMPTOMS-CAUSES/SYC-20351916?UTM=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UCI Machine Learning. (2016). Pima Indians Diabetes Database. Kaggle.com. https://www.kaggle.com/datasets/uciml/pima-indians-diabetes-database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WORLD HEALTH ORGANIZATION. (2024, NOVEMBER 14). DIABETES. WHO.INT; WORLD HEALTH ORGANIZATION: WHO. HTTPS://WWW.WHO.INT/NEWS-ROOM/FACT-SHEETS/DETAIL/DIABETES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ZHANG, W. (2025). DIABETES DETECTION: PREDICTING TYPE II DIABETES WITH MACHINE LEARNING ALGORITHM. PROCEEDINGS OF THE 2025 INTERNATIONAL CONFERENCE ON HEALTH BIG DATA, 16–22. HTTPS://DOI.ORG/10.1145/3733006.3733009</a:t>
            </a:r>
          </a:p>
          <a:p>
            <a:pPr algn="l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b="true" sz="2828">
                <a:solidFill>
                  <a:srgbClr val="000000"/>
                </a:solidFill>
                <a:latin typeface="Nunito Heavy"/>
                <a:ea typeface="Nunito Heavy"/>
                <a:cs typeface="Nunito Heavy"/>
                <a:sym typeface="Nunito Heavy"/>
              </a:rPr>
              <a:t>‌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1030" y="2106263"/>
            <a:ext cx="9685940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b="true" sz="6800" spc="68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301030" y="3470863"/>
            <a:ext cx="9685940" cy="4671775"/>
            <a:chOff x="0" y="0"/>
            <a:chExt cx="2551029" cy="12304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1029" cy="1230426"/>
            </a:xfrm>
            <a:custGeom>
              <a:avLst/>
              <a:gdLst/>
              <a:ahLst/>
              <a:cxnLst/>
              <a:rect r="r" b="b" t="t" l="l"/>
              <a:pathLst>
                <a:path h="1230426" w="2551029">
                  <a:moveTo>
                    <a:pt x="9592" y="0"/>
                  </a:moveTo>
                  <a:lnTo>
                    <a:pt x="2541438" y="0"/>
                  </a:lnTo>
                  <a:cubicBezTo>
                    <a:pt x="2546735" y="0"/>
                    <a:pt x="2551029" y="4294"/>
                    <a:pt x="2551029" y="9592"/>
                  </a:cubicBezTo>
                  <a:lnTo>
                    <a:pt x="2551029" y="1220835"/>
                  </a:lnTo>
                  <a:cubicBezTo>
                    <a:pt x="2551029" y="1226132"/>
                    <a:pt x="2546735" y="1230426"/>
                    <a:pt x="2541438" y="1230426"/>
                  </a:cubicBezTo>
                  <a:lnTo>
                    <a:pt x="9592" y="1230426"/>
                  </a:lnTo>
                  <a:cubicBezTo>
                    <a:pt x="4294" y="1230426"/>
                    <a:pt x="0" y="1226132"/>
                    <a:pt x="0" y="1220835"/>
                  </a:cubicBezTo>
                  <a:lnTo>
                    <a:pt x="0" y="9592"/>
                  </a:lnTo>
                  <a:cubicBezTo>
                    <a:pt x="0" y="4294"/>
                    <a:pt x="4294" y="0"/>
                    <a:pt x="9592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51029" cy="1287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Do you have any questions, comments, or suggestions?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6737149">
            <a:off x="-7476913" y="-9145504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590698">
            <a:off x="10415723" y="5944493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0" y="0"/>
                </a:moveTo>
                <a:lnTo>
                  <a:pt x="15744554" y="0"/>
                </a:lnTo>
                <a:lnTo>
                  <a:pt x="15744554" y="13339931"/>
                </a:lnTo>
                <a:lnTo>
                  <a:pt x="0" y="1333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90698">
            <a:off x="10868136" y="6279139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0" y="0"/>
                </a:moveTo>
                <a:lnTo>
                  <a:pt x="15744553" y="0"/>
                </a:lnTo>
                <a:lnTo>
                  <a:pt x="15744553" y="13339930"/>
                </a:lnTo>
                <a:lnTo>
                  <a:pt x="0" y="1333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6737149">
            <a:off x="-7687719" y="-9827318"/>
            <a:ext cx="15744553" cy="13339931"/>
          </a:xfrm>
          <a:custGeom>
            <a:avLst/>
            <a:gdLst/>
            <a:ahLst/>
            <a:cxnLst/>
            <a:rect r="r" b="b" t="t" l="l"/>
            <a:pathLst>
              <a:path h="13339931" w="15744553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DAHA8WGesKo</dc:identifier>
  <dcterms:modified xsi:type="dcterms:W3CDTF">2011-08-01T06:04:30Z</dcterms:modified>
  <cp:revision>1</cp:revision>
  <dc:title>GlucoMetrics Health</dc:title>
</cp:coreProperties>
</file>